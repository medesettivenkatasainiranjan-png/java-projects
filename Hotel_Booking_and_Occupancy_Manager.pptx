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25316" y="849046"/>
            <a:ext cx="4093369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spc="2" kern="0" dirty="0">
                <a:solidFill>
                  <a:srgbClr val="9E1B2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JAVA CONSOLE APPLICATION · COURSE PROJECT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2248495" y="1166943"/>
            <a:ext cx="4647009" cy="1005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3300" b="1" dirty="0">
                <a:solidFill>
                  <a:srgbClr val="11111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Hotel Booking and</a:t>
            </a:r>
            <a:r>
              <a:rPr lang="en-US" sz="3300" b="1" dirty="0">
                <a:solidFill>
                  <a:srgbClr val="11111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
</a:t>
            </a:r>
            <a:r>
              <a:rPr lang="en-US" sz="3300" b="1" dirty="0">
                <a:solidFill>
                  <a:srgbClr val="11111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Occupancy Manager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1575197" y="2458510"/>
            <a:ext cx="5993606" cy="210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centralized system for rooms, guests, bookings, and check-out records.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1357313" y="3240751"/>
            <a:ext cx="3071813" cy="1053703"/>
          </a:xfrm>
          <a:prstGeom prst="rect">
            <a:avLst/>
          </a:prstGeom>
          <a:solidFill>
            <a:srgbClr val="F4F4F5"/>
          </a:solidFill>
          <a:ln w="9144">
            <a:solidFill>
              <a:srgbClr val="E5E7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571625" y="3455064"/>
            <a:ext cx="61793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9E1B2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STUDENT 01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1571625" y="3647945"/>
            <a:ext cx="1878806" cy="210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Mannepalli Sai Karthik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571625" y="3894404"/>
            <a:ext cx="102155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ID 2620040008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714875" y="3240751"/>
            <a:ext cx="3071813" cy="1053703"/>
          </a:xfrm>
          <a:prstGeom prst="rect">
            <a:avLst/>
          </a:prstGeom>
          <a:solidFill>
            <a:srgbClr val="F4F4F5"/>
          </a:solidFill>
          <a:ln w="9144">
            <a:solidFill>
              <a:srgbClr val="E5E7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929188" y="3462207"/>
            <a:ext cx="639366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9E1B2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STUDENT 02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4929188" y="3655089"/>
            <a:ext cx="2621756" cy="210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Medesetti Venkata Sai Niranjan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929188" y="3901548"/>
            <a:ext cx="102155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ID 2620040071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28625" y="4443413"/>
            <a:ext cx="8286750" cy="2714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428625" y="4443413"/>
            <a:ext cx="8286750" cy="7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6" name="Text 13"/>
          <p:cNvSpPr/>
          <p:nvPr/>
        </p:nvSpPr>
        <p:spPr>
          <a:xfrm>
            <a:off x="428625" y="4593431"/>
            <a:ext cx="52149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15/10/2026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8483203" y="4593431"/>
            <a:ext cx="232172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/ 12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417909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Abstract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428625" y="1275159"/>
            <a:ext cx="3857625" cy="210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spc="1" kern="0" dirty="0">
                <a:solidFill>
                  <a:srgbClr val="9E1B2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SCOPE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28625" y="1628775"/>
            <a:ext cx="38576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Hotel Booking and Occupancy Manager is a Java-based console application designed to centralize and automate essential hotel front-desk operations.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28625" y="2486025"/>
            <a:ext cx="38576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provides a robust command-line interface to manage the full lifecycle of a guest stay, from initial room discovery to final check-out and billing.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857750" y="1275159"/>
            <a:ext cx="3857625" cy="210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spc="1" kern="0" dirty="0">
                <a:solidFill>
                  <a:srgbClr val="9E1B2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VALUE PROPOSITION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857750" y="1628775"/>
            <a:ext cx="38576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replacing manual logbooks with a structured digital system, the application eliminates data-entry errors and prevents double bookings.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857750" y="2486025"/>
            <a:ext cx="38576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Managers gain real-time visibility into room inventory, guest history, and financial performance, ensuring the hotel remains audit-ready and operationally efficient.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28625" y="4443413"/>
            <a:ext cx="8286750" cy="2714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428625" y="4443413"/>
            <a:ext cx="8286750" cy="7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2" name="Text 9"/>
          <p:cNvSpPr/>
          <p:nvPr/>
        </p:nvSpPr>
        <p:spPr>
          <a:xfrm>
            <a:off x="428625" y="4593431"/>
            <a:ext cx="52149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15/10/2026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8461772" y="4593431"/>
            <a:ext cx="25360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/ 12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417909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Understanding Problem Statement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428625" y="1132284"/>
            <a:ext cx="828675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9E1B2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CURRENT PAIN POINTS</a:t>
            </a:r>
            <a:endParaRPr lang="en-US" sz="700" dirty="0"/>
          </a:p>
        </p:txBody>
      </p:sp>
      <p:sp>
        <p:nvSpPr>
          <p:cNvPr id="5" name="Shape 2"/>
          <p:cNvSpPr/>
          <p:nvPr/>
        </p:nvSpPr>
        <p:spPr>
          <a:xfrm>
            <a:off x="428625" y="1360884"/>
            <a:ext cx="2619356" cy="1143614"/>
          </a:xfrm>
          <a:prstGeom prst="rect">
            <a:avLst/>
          </a:prstGeom>
          <a:solidFill>
            <a:srgbClr val="F4F4F5"/>
          </a:solidFill>
          <a:ln/>
        </p:spPr>
      </p:sp>
      <p:sp>
        <p:nvSpPr>
          <p:cNvPr id="6" name="Shape 3"/>
          <p:cNvSpPr/>
          <p:nvPr/>
        </p:nvSpPr>
        <p:spPr>
          <a:xfrm>
            <a:off x="428625" y="1360884"/>
            <a:ext cx="28575" cy="1143614"/>
          </a:xfrm>
          <a:prstGeom prst="rect">
            <a:avLst/>
          </a:prstGeom>
          <a:solidFill>
            <a:srgbClr val="9E1B22"/>
          </a:solidFill>
          <a:ln/>
        </p:spPr>
      </p:sp>
      <p:sp>
        <p:nvSpPr>
          <p:cNvPr id="7" name="Text 4"/>
          <p:cNvSpPr/>
          <p:nvPr/>
        </p:nvSpPr>
        <p:spPr>
          <a:xfrm>
            <a:off x="607219" y="1539478"/>
            <a:ext cx="2262169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Manual Record-Keeping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07219" y="1785938"/>
            <a:ext cx="2262169" cy="539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Paper logs are slow, hard to search, and prone to physical damage or loss.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262294" y="1360884"/>
            <a:ext cx="2619356" cy="1143614"/>
          </a:xfrm>
          <a:prstGeom prst="rect">
            <a:avLst/>
          </a:prstGeom>
          <a:solidFill>
            <a:srgbClr val="F4F4F5"/>
          </a:solidFill>
          <a:ln/>
        </p:spPr>
      </p:sp>
      <p:sp>
        <p:nvSpPr>
          <p:cNvPr id="10" name="Shape 7"/>
          <p:cNvSpPr/>
          <p:nvPr/>
        </p:nvSpPr>
        <p:spPr>
          <a:xfrm>
            <a:off x="3262294" y="1360884"/>
            <a:ext cx="28575" cy="1143614"/>
          </a:xfrm>
          <a:prstGeom prst="rect">
            <a:avLst/>
          </a:prstGeom>
          <a:solidFill>
            <a:srgbClr val="9E1B22"/>
          </a:solidFill>
          <a:ln/>
        </p:spPr>
      </p:sp>
      <p:sp>
        <p:nvSpPr>
          <p:cNvPr id="11" name="Text 8"/>
          <p:cNvSpPr/>
          <p:nvPr/>
        </p:nvSpPr>
        <p:spPr>
          <a:xfrm>
            <a:off x="3440888" y="1539478"/>
            <a:ext cx="2262169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Fragmented Data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440888" y="1785938"/>
            <a:ext cx="2262169" cy="539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Room status, guest info, and booking history are not synchronized in real-time.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095963" y="1360884"/>
            <a:ext cx="2619356" cy="1143614"/>
          </a:xfrm>
          <a:prstGeom prst="rect">
            <a:avLst/>
          </a:prstGeom>
          <a:solidFill>
            <a:srgbClr val="F4F4F5"/>
          </a:solidFill>
          <a:ln/>
        </p:spPr>
      </p:sp>
      <p:sp>
        <p:nvSpPr>
          <p:cNvPr id="14" name="Shape 11"/>
          <p:cNvSpPr/>
          <p:nvPr/>
        </p:nvSpPr>
        <p:spPr>
          <a:xfrm>
            <a:off x="6095963" y="1360884"/>
            <a:ext cx="28575" cy="1143614"/>
          </a:xfrm>
          <a:prstGeom prst="rect">
            <a:avLst/>
          </a:prstGeom>
          <a:solidFill>
            <a:srgbClr val="9E1B22"/>
          </a:solidFill>
          <a:ln/>
        </p:spPr>
      </p:sp>
      <p:sp>
        <p:nvSpPr>
          <p:cNvPr id="15" name="Text 12"/>
          <p:cNvSpPr/>
          <p:nvPr/>
        </p:nvSpPr>
        <p:spPr>
          <a:xfrm>
            <a:off x="6274557" y="1539478"/>
            <a:ext cx="2262169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Double Bookings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274557" y="1785938"/>
            <a:ext cx="2262169" cy="539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Lack of automated validation leads to conflicting reservations and guest dissatisfaction.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28625" y="2790248"/>
            <a:ext cx="828675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9E1B2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PROPOSED SOLUTION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428625" y="3018848"/>
            <a:ext cx="8286750" cy="1318022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9" name="Text 16"/>
          <p:cNvSpPr/>
          <p:nvPr/>
        </p:nvSpPr>
        <p:spPr>
          <a:xfrm>
            <a:off x="714375" y="3304598"/>
            <a:ext cx="7715250" cy="210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 Unified Java Console Application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14375" y="3622495"/>
            <a:ext cx="77152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menu-driven system that manages Room, Guest, and Booking entities through a centralized controller, ensuring data integrity and rapid operational response.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28625" y="4443413"/>
            <a:ext cx="8286750" cy="2714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428625" y="4443413"/>
            <a:ext cx="8286750" cy="7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3" name="Text 20"/>
          <p:cNvSpPr/>
          <p:nvPr/>
        </p:nvSpPr>
        <p:spPr>
          <a:xfrm>
            <a:off x="428625" y="4593431"/>
            <a:ext cx="52149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15/10/2026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8461772" y="4593431"/>
            <a:ext cx="25360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/ 12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18822" y="428625"/>
            <a:ext cx="996553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E1B2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Outcome 01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28625" y="428625"/>
            <a:ext cx="8286750" cy="417909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Types and Sequential I/O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28625" y="1132284"/>
            <a:ext cx="3571875" cy="210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E1B2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Problem Solving Foundations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28625" y="1414463"/>
            <a:ext cx="35718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Translating hotel attributes into precise Java primitives and reference types. Mapping guest details and room pricing to memory.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28625" y="2314575"/>
            <a:ext cx="3571875" cy="210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E1B2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Console Interaction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28625" y="2625328"/>
            <a:ext cx="58935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Utilizing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017984" y="2611041"/>
            <a:ext cx="600075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Scanner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618059" y="2625328"/>
            <a:ext cx="192881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robust input capture and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28625" y="2843213"/>
            <a:ext cx="514350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printf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942975" y="2857500"/>
            <a:ext cx="219670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formatted business receipts.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429125" y="1132284"/>
            <a:ext cx="4286250" cy="3582591"/>
          </a:xfrm>
          <a:prstGeom prst="rect">
            <a:avLst/>
          </a:prstGeom>
          <a:solidFill>
            <a:srgbClr val="F4F4F5"/>
          </a:solidFill>
          <a:ln w="9144">
            <a:solidFill>
              <a:srgbClr val="E5E7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43438" y="1346597"/>
            <a:ext cx="3857625" cy="210741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E1B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Room.java &amp; Guest.java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4643438" y="1664494"/>
            <a:ext cx="3857625" cy="1735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9E1B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</a:t>
            </a:r>
            <a:r>
              <a:rPr lang="en-US" sz="95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roomId; </a:t>
            </a:r>
            <a:r>
              <a:rPr lang="en-US" sz="950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ID &amp; capacity</a:t>
            </a:r>
            <a:r>
              <a:rPr lang="en-US" sz="95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900" b="1" dirty="0">
                <a:solidFill>
                  <a:srgbClr val="9E1B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String</a:t>
            </a:r>
            <a:r>
              <a:rPr lang="en-US" sz="95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roomType; </a:t>
            </a:r>
            <a:r>
              <a:rPr lang="en-US" sz="950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Reference type</a:t>
            </a:r>
            <a:r>
              <a:rPr lang="en-US" sz="95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900" b="1" dirty="0">
                <a:solidFill>
                  <a:srgbClr val="9E1B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double</a:t>
            </a:r>
            <a:r>
              <a:rPr lang="en-US" sz="95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pricePerNight; </a:t>
            </a:r>
            <a:r>
              <a:rPr lang="en-US" sz="950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Fractional cost</a:t>
            </a:r>
            <a:r>
              <a:rPr lang="en-US" sz="95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900" b="1" dirty="0">
                <a:solidFill>
                  <a:srgbClr val="9E1B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boolean</a:t>
            </a:r>
            <a:r>
              <a:rPr lang="en-US" sz="95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isAvailable; </a:t>
            </a:r>
            <a:r>
              <a:rPr lang="en-US" sz="950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State</a:t>
            </a:r>
            <a:r>
              <a:rPr lang="en-US" sz="95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950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Capturing Input</a:t>
            </a:r>
            <a:r>
              <a:rPr lang="en-US" sz="95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95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Scanner sc = </a:t>
            </a:r>
            <a:r>
              <a:rPr lang="en-US" sz="900" b="1" dirty="0">
                <a:solidFill>
                  <a:srgbClr val="9E1B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new</a:t>
            </a:r>
            <a:r>
              <a:rPr lang="en-US" sz="95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Scanner(System.in);
</a:t>
            </a:r>
            <a:r>
              <a:rPr lang="en-US" sz="900" b="1" dirty="0">
                <a:solidFill>
                  <a:srgbClr val="9E1B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</a:t>
            </a:r>
            <a:r>
              <a:rPr lang="en-US" sz="95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id = sc.nextInt();
</a:t>
            </a:r>
            <a:r>
              <a:rPr lang="en-US" sz="900" b="1" dirty="0">
                <a:solidFill>
                  <a:srgbClr val="9E1B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String</a:t>
            </a:r>
            <a:r>
              <a:rPr lang="en-US" sz="95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name = sc.next();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28625" y="4443413"/>
            <a:ext cx="8286750" cy="2714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428625" y="4443413"/>
            <a:ext cx="8286750" cy="7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8" name="Text 15"/>
          <p:cNvSpPr/>
          <p:nvPr/>
        </p:nvSpPr>
        <p:spPr>
          <a:xfrm>
            <a:off x="428625" y="4593431"/>
            <a:ext cx="52149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15/10/2026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8458200" y="4593431"/>
            <a:ext cx="257175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/ 12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86675" y="428625"/>
            <a:ext cx="1028700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E1B2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Outcome 02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28625" y="428625"/>
            <a:ext cx="8286750" cy="417909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Decision Making and Loops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428625" y="1060847"/>
            <a:ext cx="8286750" cy="1786719"/>
          </a:xfrm>
          <a:prstGeom prst="rect">
            <a:avLst/>
          </a:prstGeom>
          <a:solidFill>
            <a:srgbClr val="FDF2F2"/>
          </a:solidFill>
          <a:ln w="9144">
            <a:solidFill>
              <a:srgbClr val="9E1B22"/>
            </a:solidFill>
            <a:prstDash val="dash"/>
          </a:ln>
        </p:spPr>
      </p:sp>
      <p:sp>
        <p:nvSpPr>
          <p:cNvPr id="6" name="Text 3"/>
          <p:cNvSpPr/>
          <p:nvPr/>
        </p:nvSpPr>
        <p:spPr>
          <a:xfrm>
            <a:off x="500063" y="1132284"/>
            <a:ext cx="967978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9E1B2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BOOKING LOGIC FLOW</a:t>
            </a:r>
            <a:endParaRPr lang="en-US" sz="600" dirty="0"/>
          </a:p>
        </p:txBody>
      </p:sp>
      <p:sp>
        <p:nvSpPr>
          <p:cNvPr id="7" name="Shape 4"/>
          <p:cNvSpPr/>
          <p:nvPr/>
        </p:nvSpPr>
        <p:spPr>
          <a:xfrm>
            <a:off x="1769864" y="1777398"/>
            <a:ext cx="789384" cy="353616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8" name="Text 5"/>
          <p:cNvSpPr/>
          <p:nvPr/>
        </p:nvSpPr>
        <p:spPr>
          <a:xfrm>
            <a:off x="1769864" y="1777398"/>
            <a:ext cx="789384" cy="353616"/>
          </a:xfrm>
          <a:prstGeom prst="rect">
            <a:avLst/>
          </a:prstGeom>
          <a:noFill/>
          <a:ln/>
        </p:spPr>
        <p:txBody>
          <a:bodyPr wrap="none" lIns="212598" tIns="127508" rIns="212598" bIns="127508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Input ID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2844998" y="1947063"/>
            <a:ext cx="285750" cy="1428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0" name="Shape 7"/>
          <p:cNvSpPr/>
          <p:nvPr/>
        </p:nvSpPr>
        <p:spPr>
          <a:xfrm>
            <a:off x="3416498" y="1598805"/>
            <a:ext cx="592931" cy="710803"/>
          </a:xfrm>
          <a:prstGeom prst="rect">
            <a:avLst/>
          </a:prstGeom>
          <a:solidFill>
            <a:srgbClr val="9E1B22"/>
          </a:solidFill>
          <a:ln/>
        </p:spPr>
      </p:sp>
      <p:sp>
        <p:nvSpPr>
          <p:cNvPr id="11" name="Text 8"/>
          <p:cNvSpPr/>
          <p:nvPr/>
        </p:nvSpPr>
        <p:spPr>
          <a:xfrm>
            <a:off x="3416498" y="1598805"/>
            <a:ext cx="592931" cy="710803"/>
          </a:xfrm>
          <a:prstGeom prst="rect">
            <a:avLst/>
          </a:prstGeom>
          <a:noFill/>
          <a:ln/>
        </p:spPr>
        <p:txBody>
          <a:bodyPr wrap="none" lIns="170053" tIns="340233" rIns="170053" bIns="340233" rtlCol="0" anchor="t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Free?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4295180" y="1947063"/>
            <a:ext cx="285750" cy="1428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3" name="Shape 10"/>
          <p:cNvSpPr/>
          <p:nvPr/>
        </p:nvSpPr>
        <p:spPr>
          <a:xfrm>
            <a:off x="4866680" y="1777398"/>
            <a:ext cx="814388" cy="353616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4" name="Text 11"/>
          <p:cNvSpPr/>
          <p:nvPr/>
        </p:nvSpPr>
        <p:spPr>
          <a:xfrm>
            <a:off x="4866680" y="1777398"/>
            <a:ext cx="814388" cy="353616"/>
          </a:xfrm>
          <a:prstGeom prst="rect">
            <a:avLst/>
          </a:prstGeom>
          <a:noFill/>
          <a:ln/>
        </p:spPr>
        <p:txBody>
          <a:bodyPr wrap="none" lIns="212598" tIns="127508" rIns="212598" bIns="127508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Confirm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5966817" y="1947063"/>
            <a:ext cx="285750" cy="1428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6" name="Shape 13"/>
          <p:cNvSpPr/>
          <p:nvPr/>
        </p:nvSpPr>
        <p:spPr>
          <a:xfrm>
            <a:off x="6538317" y="1777398"/>
            <a:ext cx="835819" cy="353616"/>
          </a:xfrm>
          <a:prstGeom prst="roundRect">
            <a:avLst/>
          </a:prstGeom>
          <a:solidFill>
            <a:srgbClr val="111111"/>
          </a:solidFill>
          <a:ln/>
        </p:spPr>
      </p:sp>
      <p:sp>
        <p:nvSpPr>
          <p:cNvPr id="17" name="Text 14"/>
          <p:cNvSpPr/>
          <p:nvPr/>
        </p:nvSpPr>
        <p:spPr>
          <a:xfrm>
            <a:off x="6538317" y="1777398"/>
            <a:ext cx="835819" cy="353616"/>
          </a:xfrm>
          <a:prstGeom prst="rect">
            <a:avLst/>
          </a:prstGeom>
          <a:noFill/>
          <a:ln/>
        </p:spPr>
        <p:txBody>
          <a:bodyPr wrap="none" lIns="212598" tIns="127508" rIns="212598" bIns="127508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Success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428625" y="3133316"/>
            <a:ext cx="4000500" cy="1581559"/>
          </a:xfrm>
          <a:prstGeom prst="rect">
            <a:avLst/>
          </a:prstGeom>
          <a:solidFill>
            <a:srgbClr val="F4F4F5"/>
          </a:solidFill>
          <a:ln/>
        </p:spPr>
      </p:sp>
      <p:sp>
        <p:nvSpPr>
          <p:cNvPr id="19" name="Text 16"/>
          <p:cNvSpPr/>
          <p:nvPr/>
        </p:nvSpPr>
        <p:spPr>
          <a:xfrm>
            <a:off x="607219" y="3311909"/>
            <a:ext cx="3643313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E1B2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Main Menu (switch-case)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07219" y="3576228"/>
            <a:ext cx="3643313" cy="80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9E1B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switch</a:t>
            </a:r>
            <a:r>
              <a:rPr lang="en-US" sz="85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(choice) {
</a:t>
            </a:r>
            <a:r>
              <a:rPr lang="en-US" sz="85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</a:t>
            </a:r>
            <a:r>
              <a:rPr lang="en-US" sz="800" b="1" dirty="0">
                <a:solidFill>
                  <a:srgbClr val="9E1B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case</a:t>
            </a:r>
            <a:r>
              <a:rPr lang="en-US" sz="85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1: addRoom(); </a:t>
            </a:r>
            <a:r>
              <a:rPr lang="en-US" sz="800" b="1" dirty="0">
                <a:solidFill>
                  <a:srgbClr val="9E1B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break</a:t>
            </a:r>
            <a:r>
              <a:rPr lang="en-US" sz="85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;
</a:t>
            </a:r>
            <a:r>
              <a:rPr lang="en-US" sz="85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</a:t>
            </a:r>
            <a:r>
              <a:rPr lang="en-US" sz="800" b="1" dirty="0">
                <a:solidFill>
                  <a:srgbClr val="9E1B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case</a:t>
            </a:r>
            <a:r>
              <a:rPr lang="en-US" sz="85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2: bookRoom(); </a:t>
            </a:r>
            <a:r>
              <a:rPr lang="en-US" sz="800" b="1" dirty="0">
                <a:solidFill>
                  <a:srgbClr val="9E1B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break</a:t>
            </a:r>
            <a:r>
              <a:rPr lang="en-US" sz="85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;
</a:t>
            </a:r>
            <a:r>
              <a:rPr lang="en-US" sz="85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</a:t>
            </a:r>
            <a:r>
              <a:rPr lang="en-US" sz="800" b="1" dirty="0">
                <a:solidFill>
                  <a:srgbClr val="9E1B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default</a:t>
            </a:r>
            <a:r>
              <a:rPr lang="en-US" sz="85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System.out.println("Err");
</a:t>
            </a:r>
            <a:r>
              <a:rPr lang="en-US" sz="85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4714875" y="3133316"/>
            <a:ext cx="4000500" cy="1581559"/>
          </a:xfrm>
          <a:prstGeom prst="rect">
            <a:avLst/>
          </a:prstGeom>
          <a:solidFill>
            <a:srgbClr val="F4F4F5"/>
          </a:solidFill>
          <a:ln/>
        </p:spPr>
      </p:sp>
      <p:sp>
        <p:nvSpPr>
          <p:cNvPr id="22" name="Text 19"/>
          <p:cNvSpPr/>
          <p:nvPr/>
        </p:nvSpPr>
        <p:spPr>
          <a:xfrm>
            <a:off x="4893469" y="3311909"/>
            <a:ext cx="3643313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E1B2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Booking Guard (if-else)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893469" y="3576228"/>
            <a:ext cx="3643313" cy="9600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9E1B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if</a:t>
            </a:r>
            <a:r>
              <a:rPr lang="en-US" sz="85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(room.isAvailable) {
</a:t>
            </a:r>
            <a:r>
              <a:rPr lang="en-US" sz="85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room.isAvailable = </a:t>
            </a:r>
            <a:r>
              <a:rPr lang="en-US" sz="800" b="1" dirty="0">
                <a:solidFill>
                  <a:srgbClr val="9E1B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false</a:t>
            </a:r>
            <a:r>
              <a:rPr lang="en-US" sz="85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;
</a:t>
            </a:r>
            <a:r>
              <a:rPr lang="en-US" sz="85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System.out.println("Booked!");
</a:t>
            </a:r>
            <a:r>
              <a:rPr lang="en-US" sz="85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 </a:t>
            </a:r>
            <a:r>
              <a:rPr lang="en-US" sz="800" b="1" dirty="0">
                <a:solidFill>
                  <a:srgbClr val="9E1B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else</a:t>
            </a:r>
            <a:r>
              <a:rPr lang="en-US" sz="85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{
</a:t>
            </a:r>
            <a:r>
              <a:rPr lang="en-US" sz="85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System.out.println("Occupied!");
</a:t>
            </a:r>
            <a:r>
              <a:rPr lang="en-US" sz="85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428625" y="4443413"/>
            <a:ext cx="8286750" cy="2714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428625" y="4443413"/>
            <a:ext cx="8286750" cy="7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6" name="Text 23"/>
          <p:cNvSpPr/>
          <p:nvPr/>
        </p:nvSpPr>
        <p:spPr>
          <a:xfrm>
            <a:off x="428625" y="4593431"/>
            <a:ext cx="52149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15/10/2026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8461772" y="4593431"/>
            <a:ext cx="25360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/ 12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83103" y="428625"/>
            <a:ext cx="1032272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E1B2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Outcome 03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28625" y="428625"/>
            <a:ext cx="8286750" cy="417909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Methods and Modular Arrays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428625" y="1132284"/>
            <a:ext cx="4286250" cy="3582591"/>
          </a:xfrm>
          <a:prstGeom prst="rect">
            <a:avLst/>
          </a:prstGeom>
          <a:solidFill>
            <a:srgbClr val="F4F4F5"/>
          </a:solidFill>
          <a:ln w="9144">
            <a:solidFill>
              <a:srgbClr val="E5E7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2938" y="1346597"/>
            <a:ext cx="3857625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9E1B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Managing Inventory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642938" y="1621631"/>
            <a:ext cx="385762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2D Array for Floor/Room Occupancy</a:t>
            </a:r>
            <a:r>
              <a:rPr lang="en-US" sz="85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800" b="1" dirty="0">
                <a:solidFill>
                  <a:srgbClr val="9E1B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boolean</a:t>
            </a:r>
            <a:r>
              <a:rPr lang="en-US" sz="85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[][] occupancy = </a:t>
            </a:r>
            <a:r>
              <a:rPr lang="en-US" sz="800" b="1" dirty="0">
                <a:solidFill>
                  <a:srgbClr val="9E1B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new</a:t>
            </a:r>
            <a:r>
              <a:rPr lang="en-US" sz="85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r>
              <a:rPr lang="en-US" sz="800" b="1" dirty="0">
                <a:solidFill>
                  <a:srgbClr val="9E1B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boolean</a:t>
            </a:r>
            <a:r>
              <a:rPr lang="en-US" sz="85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[5][10];
</a:t>
            </a:r>
            <a:r>
              <a:rPr lang="en-US" sz="85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85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Modular Search Method</a:t>
            </a:r>
            <a:r>
              <a:rPr lang="en-US" sz="85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800" b="1" dirty="0">
                <a:solidFill>
                  <a:srgbClr val="9E1B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public</a:t>
            </a:r>
            <a:r>
              <a:rPr lang="en-US" sz="85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Room findRoom(</a:t>
            </a:r>
            <a:r>
              <a:rPr lang="en-US" sz="800" b="1" dirty="0">
                <a:solidFill>
                  <a:srgbClr val="9E1B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</a:t>
            </a:r>
            <a:r>
              <a:rPr lang="en-US" sz="85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id) {
</a:t>
            </a:r>
            <a:r>
              <a:rPr lang="en-US" sz="85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</a:t>
            </a:r>
            <a:r>
              <a:rPr lang="en-US" sz="800" b="1" dirty="0">
                <a:solidFill>
                  <a:srgbClr val="9E1B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</a:t>
            </a:r>
            <a:r>
              <a:rPr lang="en-US" sz="85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(Room r : rooms) {
</a:t>
            </a:r>
            <a:r>
              <a:rPr lang="en-US" sz="85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</a:t>
            </a:r>
            <a:r>
              <a:rPr lang="en-US" sz="800" b="1" dirty="0">
                <a:solidFill>
                  <a:srgbClr val="9E1B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if</a:t>
            </a:r>
            <a:r>
              <a:rPr lang="en-US" sz="85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(r.roomId == id) </a:t>
            </a:r>
            <a:r>
              <a:rPr lang="en-US" sz="800" b="1" dirty="0">
                <a:solidFill>
                  <a:srgbClr val="9E1B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return</a:t>
            </a:r>
            <a:r>
              <a:rPr lang="en-US" sz="85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r;
</a:t>
            </a:r>
            <a:r>
              <a:rPr lang="en-US" sz="85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}
</a:t>
            </a:r>
            <a:r>
              <a:rPr lang="en-US" sz="85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</a:t>
            </a:r>
            <a:r>
              <a:rPr lang="en-US" sz="800" b="1" dirty="0">
                <a:solidFill>
                  <a:srgbClr val="9E1B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return</a:t>
            </a:r>
            <a:r>
              <a:rPr lang="en-US" sz="85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r>
              <a:rPr lang="en-US" sz="800" b="1" dirty="0">
                <a:solidFill>
                  <a:srgbClr val="9E1B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null</a:t>
            </a:r>
            <a:r>
              <a:rPr lang="en-US" sz="85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;
</a:t>
            </a:r>
            <a:r>
              <a:rPr lang="en-US" sz="85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
</a:t>
            </a:r>
            <a:r>
              <a:rPr lang="en-US" sz="85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85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Method Composition</a:t>
            </a:r>
            <a:r>
              <a:rPr lang="en-US" sz="85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800" b="1" dirty="0">
                <a:solidFill>
                  <a:srgbClr val="9E1B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public void</a:t>
            </a:r>
            <a:r>
              <a:rPr lang="en-US" sz="85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performCheckOut(</a:t>
            </a:r>
            <a:r>
              <a:rPr lang="en-US" sz="800" b="1" dirty="0">
                <a:solidFill>
                  <a:srgbClr val="9E1B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</a:t>
            </a:r>
            <a:r>
              <a:rPr lang="en-US" sz="85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id) {
</a:t>
            </a:r>
            <a:r>
              <a:rPr lang="en-US" sz="85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Room r = findRoom(id);
</a:t>
            </a:r>
            <a:r>
              <a:rPr lang="en-US" sz="85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</a:t>
            </a:r>
            <a:r>
              <a:rPr lang="en-US" sz="800" b="1" dirty="0">
                <a:solidFill>
                  <a:srgbClr val="9E1B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if</a:t>
            </a:r>
            <a:r>
              <a:rPr lang="en-US" sz="85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(r != </a:t>
            </a:r>
            <a:r>
              <a:rPr lang="en-US" sz="800" b="1" dirty="0">
                <a:solidFill>
                  <a:srgbClr val="9E1B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null</a:t>
            </a:r>
            <a:r>
              <a:rPr lang="en-US" sz="85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 r.setAvailable(</a:t>
            </a:r>
            <a:r>
              <a:rPr lang="en-US" sz="800" b="1" dirty="0">
                <a:solidFill>
                  <a:srgbClr val="9E1B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true</a:t>
            </a:r>
            <a:r>
              <a:rPr lang="en-US" sz="85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);
</a:t>
            </a:r>
            <a:r>
              <a:rPr lang="en-US" sz="85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314950" y="1132284"/>
            <a:ext cx="3400425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Functional Decomposition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314950" y="1421606"/>
            <a:ext cx="158591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Moving from a monolithic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900863" y="1410891"/>
            <a:ext cx="30863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main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209495" y="1421606"/>
            <a:ext cx="1200150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reusable, named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314950" y="1627324"/>
            <a:ext cx="321468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contracts. Each hotel operation is isolated for testing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314950" y="1833042"/>
            <a:ext cx="667941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clarity.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314950" y="2231641"/>
            <a:ext cx="3400425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Structured Data Storage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314950" y="2495959"/>
            <a:ext cx="340042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Applying 1-D arrays for guest lists and 2-D arrays for floor-based room availability tracking.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28625" y="4443413"/>
            <a:ext cx="8286750" cy="2714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428625" y="4443413"/>
            <a:ext cx="8286750" cy="7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8" name="Text 15"/>
          <p:cNvSpPr/>
          <p:nvPr/>
        </p:nvSpPr>
        <p:spPr>
          <a:xfrm>
            <a:off x="428625" y="4593431"/>
            <a:ext cx="52149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15/10/2026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8461772" y="4593431"/>
            <a:ext cx="25360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/ 12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79531" y="428625"/>
            <a:ext cx="1035844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E1B2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Outcome 04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28625" y="428625"/>
            <a:ext cx="8286750" cy="417909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Robust Domain Modeling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78644" y="1282303"/>
            <a:ext cx="3629025" cy="189309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E1B2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Class: BookingSystem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578644" y="1614488"/>
            <a:ext cx="1221581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 List&lt;Room&gt; rooms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78644" y="1774496"/>
            <a:ext cx="1357313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 List&lt;Guest&gt; guests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78644" y="2084524"/>
            <a:ext cx="1968103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 bookRoom(guest, room): void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78644" y="2244533"/>
            <a:ext cx="1628775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 checkOut(roomId): void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578644" y="2404542"/>
            <a:ext cx="1832372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 getAvailableRooms(): List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578644" y="2707425"/>
            <a:ext cx="3629025" cy="189309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E1B2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Safe Operations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78644" y="3146766"/>
            <a:ext cx="3629025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9E1B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try</a:t>
            </a:r>
            <a:r>
              <a:rPr lang="en-US" sz="80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{
</a:t>
            </a:r>
            <a:r>
              <a:rPr lang="en-US" sz="80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booking.process(guestId);
</a:t>
            </a:r>
            <a:r>
              <a:rPr lang="en-US" sz="80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 </a:t>
            </a:r>
            <a:r>
              <a:rPr lang="en-US" sz="800" dirty="0">
                <a:solidFill>
                  <a:srgbClr val="9E1B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catch</a:t>
            </a:r>
            <a:r>
              <a:rPr lang="en-US" sz="80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(RoomUnavailableException e) {
</a:t>
            </a:r>
            <a:r>
              <a:rPr lang="en-US" sz="80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System.err.println(e.getMessage());
</a:t>
            </a:r>
            <a:r>
              <a:rPr lang="en-US" sz="80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786313" y="1132284"/>
            <a:ext cx="3929063" cy="917972"/>
          </a:xfrm>
          <a:prstGeom prst="rect">
            <a:avLst/>
          </a:prstGeom>
          <a:solidFill>
            <a:srgbClr val="F4F4F5"/>
          </a:solidFill>
          <a:ln/>
        </p:spPr>
      </p:sp>
      <p:sp>
        <p:nvSpPr>
          <p:cNvPr id="14" name="Text 11"/>
          <p:cNvSpPr/>
          <p:nvPr/>
        </p:nvSpPr>
        <p:spPr>
          <a:xfrm>
            <a:off x="4964906" y="1310878"/>
            <a:ext cx="3571875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Encapsulation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964906" y="1557338"/>
            <a:ext cx="357187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Hiding room state behind private fields and public getters/setters to prevent invalid availability changes.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786313" y="2264569"/>
            <a:ext cx="3929063" cy="935831"/>
          </a:xfrm>
          <a:prstGeom prst="rect">
            <a:avLst/>
          </a:prstGeom>
          <a:solidFill>
            <a:srgbClr val="F4F4F5"/>
          </a:solidFill>
          <a:ln/>
        </p:spPr>
      </p:sp>
      <p:sp>
        <p:nvSpPr>
          <p:cNvPr id="17" name="Text 14"/>
          <p:cNvSpPr/>
          <p:nvPr/>
        </p:nvSpPr>
        <p:spPr>
          <a:xfrm>
            <a:off x="4964906" y="2443163"/>
            <a:ext cx="3571875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Safe Failure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964906" y="2700338"/>
            <a:ext cx="3857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Using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350669" y="2689622"/>
            <a:ext cx="69439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try-catch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045064" y="2700338"/>
            <a:ext cx="1946672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handle invalid user IDs or full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964906" y="2864644"/>
            <a:ext cx="3203972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occupancy without crashing the console application.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28625" y="4443413"/>
            <a:ext cx="8286750" cy="2714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428625" y="4443413"/>
            <a:ext cx="8286750" cy="7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4" name="Text 21"/>
          <p:cNvSpPr/>
          <p:nvPr/>
        </p:nvSpPr>
        <p:spPr>
          <a:xfrm>
            <a:off x="428625" y="4593431"/>
            <a:ext cx="52149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15/10/2026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8465344" y="4593431"/>
            <a:ext cx="25003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/ 12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86675" y="428625"/>
            <a:ext cx="1028700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E1B2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Outcome 05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28625" y="428625"/>
            <a:ext cx="8286750" cy="417909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Persistence and Text Processing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00075" y="1132284"/>
            <a:ext cx="3400425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String Manipulation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00075" y="1414463"/>
            <a:ext cx="3103959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Generating formatted guest receipts and searching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00075" y="1607344"/>
            <a:ext cx="127158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room catalogs using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871663" y="1596628"/>
            <a:ext cx="46294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String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2334611" y="1607344"/>
            <a:ext cx="296466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2631077" y="1596628"/>
            <a:ext cx="100302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StringBuilder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3634104" y="1607344"/>
            <a:ext cx="35719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00075" y="1996678"/>
            <a:ext cx="3400425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Persistence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00075" y="2278856"/>
            <a:ext cx="1632347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Saving booking records to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2232422" y="2268141"/>
            <a:ext cx="69439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rooms.txt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2926817" y="2278856"/>
            <a:ext cx="835819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ensure the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00075" y="2471738"/>
            <a:ext cx="242887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hotel state survives application restarts.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429125" y="1132284"/>
            <a:ext cx="4286250" cy="3582591"/>
          </a:xfrm>
          <a:prstGeom prst="rect">
            <a:avLst/>
          </a:prstGeom>
          <a:solidFill>
            <a:srgbClr val="F4F4F5"/>
          </a:solidFill>
          <a:ln w="9144">
            <a:solidFill>
              <a:srgbClr val="E5E7E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643438" y="1346597"/>
            <a:ext cx="3857625" cy="23313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Report Generation</a:t>
            </a:r>
            <a:r>
              <a:rPr lang="en-US" sz="90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90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StringBuilder sb = </a:t>
            </a:r>
            <a:r>
              <a:rPr lang="en-US" sz="850" b="1" dirty="0">
                <a:solidFill>
                  <a:srgbClr val="9E1B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new</a:t>
            </a:r>
            <a:r>
              <a:rPr lang="en-US" sz="90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StringBuilder();
</a:t>
            </a:r>
            <a:r>
              <a:rPr lang="en-US" sz="90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sb.append(</a:t>
            </a:r>
            <a:r>
              <a:rPr lang="en-US" sz="900" dirty="0">
                <a:solidFill>
                  <a:srgbClr val="0596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"Room ID: "</a:t>
            </a:r>
            <a:r>
              <a:rPr lang="en-US" sz="90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).append(id);
</a:t>
            </a:r>
            <a:r>
              <a:rPr lang="en-US" sz="90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90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File I/O Persistence</a:t>
            </a:r>
            <a:r>
              <a:rPr lang="en-US" sz="90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850" b="1" dirty="0">
                <a:solidFill>
                  <a:srgbClr val="9E1B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try</a:t>
            </a:r>
            <a:r>
              <a:rPr lang="en-US" sz="90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(FileWriter fw = </a:t>
            </a:r>
            <a:r>
              <a:rPr lang="en-US" sz="850" b="1" dirty="0">
                <a:solidFill>
                  <a:srgbClr val="9E1B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new</a:t>
            </a:r>
            <a:r>
              <a:rPr lang="en-US" sz="90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FileWriter(</a:t>
            </a:r>
            <a:r>
              <a:rPr lang="en-US" sz="900" dirty="0">
                <a:solidFill>
                  <a:srgbClr val="0596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"data.txt"</a:t>
            </a:r>
            <a:r>
              <a:rPr lang="en-US" sz="90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)) {
</a:t>
            </a:r>
            <a:r>
              <a:rPr lang="en-US" sz="90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</a:t>
            </a:r>
            <a:r>
              <a:rPr lang="en-US" sz="850" b="1" dirty="0">
                <a:solidFill>
                  <a:srgbClr val="9E1B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</a:t>
            </a:r>
            <a:r>
              <a:rPr lang="en-US" sz="90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(Room r : rooms) {
</a:t>
            </a:r>
            <a:r>
              <a:rPr lang="en-US" sz="90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fw.write(r.toCSV() + </a:t>
            </a:r>
            <a:r>
              <a:rPr lang="en-US" sz="900" dirty="0">
                <a:solidFill>
                  <a:srgbClr val="0596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"\n"</a:t>
            </a:r>
            <a:r>
              <a:rPr lang="en-US" sz="90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);
</a:t>
            </a:r>
            <a:r>
              <a:rPr lang="en-US" sz="90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}
</a:t>
            </a:r>
            <a:r>
              <a:rPr lang="en-US" sz="90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 </a:t>
            </a:r>
            <a:r>
              <a:rPr lang="en-US" sz="850" b="1" dirty="0">
                <a:solidFill>
                  <a:srgbClr val="9E1B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catch</a:t>
            </a:r>
            <a:r>
              <a:rPr lang="en-US" sz="90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(IOException e) {
</a:t>
            </a:r>
            <a:r>
              <a:rPr lang="en-US" sz="90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</a:t>
            </a:r>
            <a:r>
              <a:rPr lang="en-US" sz="90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Handle persistence error</a:t>
            </a:r>
            <a:r>
              <a:rPr lang="en-US" sz="90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90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28625" y="4443413"/>
            <a:ext cx="8286750" cy="2714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428625" y="4443413"/>
            <a:ext cx="8286750" cy="7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1" name="Text 18"/>
          <p:cNvSpPr/>
          <p:nvPr/>
        </p:nvSpPr>
        <p:spPr>
          <a:xfrm>
            <a:off x="428625" y="4593431"/>
            <a:ext cx="52149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15/10/2026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8461772" y="4593431"/>
            <a:ext cx="25360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/ 12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75997" y="257175"/>
            <a:ext cx="91082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E1B2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Outcome 06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257175" y="257175"/>
            <a:ext cx="8629650" cy="267891"/>
          </a:xfrm>
          <a:prstGeom prst="rect">
            <a:avLst/>
          </a:prstGeom>
          <a:noFill/>
          <a:ln/>
        </p:spPr>
        <p:txBody>
          <a:bodyPr wrap="square" lIns="0" tIns="51054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Collections and Functional Streams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257175" y="653653"/>
            <a:ext cx="8629650" cy="593601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6" name="Text 3"/>
          <p:cNvSpPr/>
          <p:nvPr/>
        </p:nvSpPr>
        <p:spPr>
          <a:xfrm>
            <a:off x="385763" y="782241"/>
            <a:ext cx="8372475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E1B2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DECLARATIVE DATA PROCESSING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385763" y="978694"/>
            <a:ext cx="8372475" cy="1399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Transitioning from imperative loops to functional Stream pipelines for real-time occupancy analytics and availability filtering.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257175" y="1375842"/>
            <a:ext cx="8629650" cy="3510483"/>
          </a:xfrm>
          <a:prstGeom prst="rect">
            <a:avLst/>
          </a:prstGeom>
          <a:solidFill>
            <a:srgbClr val="F4F4F5"/>
          </a:solidFill>
          <a:ln w="9144">
            <a:solidFill>
              <a:srgbClr val="E5E7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5763" y="1518717"/>
            <a:ext cx="1543050" cy="189309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9E1B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Occupancy Analytics Example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385763" y="1865188"/>
            <a:ext cx="8372475" cy="1350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Filter available rooms &amp; count using Streams</a:t>
            </a:r>
            <a:r>
              <a:rPr lang="en-US" sz="80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750" b="1" dirty="0">
                <a:solidFill>
                  <a:srgbClr val="9E1B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long</a:t>
            </a:r>
            <a:r>
              <a:rPr lang="en-US" sz="80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count = rooms.stream()
</a:t>
            </a:r>
            <a:r>
              <a:rPr lang="en-US" sz="80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.</a:t>
            </a:r>
            <a:r>
              <a:rPr lang="en-US" sz="800" dirty="0">
                <a:solidFill>
                  <a:srgbClr val="2563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filter</a:t>
            </a:r>
            <a:r>
              <a:rPr lang="en-US" sz="80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(r -&gt; r.isAvailable())
</a:t>
            </a:r>
            <a:r>
              <a:rPr lang="en-US" sz="80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.</a:t>
            </a:r>
            <a:r>
              <a:rPr lang="en-US" sz="800" dirty="0">
                <a:solidFill>
                  <a:srgbClr val="2563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count</a:t>
            </a:r>
            <a:r>
              <a:rPr lang="en-US" sz="80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();
</a:t>
            </a:r>
            <a:r>
              <a:rPr lang="en-US" sz="80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8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Sort rooms by price</a:t>
            </a:r>
            <a:r>
              <a:rPr lang="en-US" sz="80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80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List&lt;Room&gt; sorted = rooms.stream()
</a:t>
            </a:r>
            <a:r>
              <a:rPr lang="en-US" sz="80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.</a:t>
            </a:r>
            <a:r>
              <a:rPr lang="en-US" sz="800" dirty="0">
                <a:solidFill>
                  <a:srgbClr val="2563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sorted</a:t>
            </a:r>
            <a:r>
              <a:rPr lang="en-US" sz="80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(Comparator.comparing(Room::getPrice))
</a:t>
            </a:r>
            <a:r>
              <a:rPr lang="en-US" sz="80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.</a:t>
            </a:r>
            <a:r>
              <a:rPr lang="en-US" sz="800" dirty="0">
                <a:solidFill>
                  <a:srgbClr val="2563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toList</a:t>
            </a:r>
            <a:r>
              <a:rPr lang="en-US" sz="80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();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57175" y="4682728"/>
            <a:ext cx="8629650" cy="20359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257175" y="4682728"/>
            <a:ext cx="8629650" cy="7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3" name="Text 10"/>
          <p:cNvSpPr/>
          <p:nvPr/>
        </p:nvSpPr>
        <p:spPr>
          <a:xfrm>
            <a:off x="257175" y="4775597"/>
            <a:ext cx="482203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15/10/2026</a:t>
            </a:r>
            <a:endParaRPr lang="en-US" sz="650" dirty="0"/>
          </a:p>
        </p:txBody>
      </p:sp>
      <p:sp>
        <p:nvSpPr>
          <p:cNvPr id="14" name="Text 11"/>
          <p:cNvSpPr/>
          <p:nvPr/>
        </p:nvSpPr>
        <p:spPr>
          <a:xfrm>
            <a:off x="8651081" y="4775597"/>
            <a:ext cx="23574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/ 12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417909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428625" y="1275159"/>
            <a:ext cx="2571750" cy="278606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E1B2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Outcomes Unified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28625" y="1696641"/>
            <a:ext cx="2571750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project successfully integrated all six course outcomes, demonstrating mastery from basic Java syntax to advanced functional Streams.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3286125" y="1275159"/>
            <a:ext cx="2571750" cy="278606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E1B2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Operational Impact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286125" y="1696641"/>
            <a:ext cx="257175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digitizing hotel workflows, we've created a system that minimizes human error and maximizes resource utilization.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143625" y="1275159"/>
            <a:ext cx="2571750" cy="278606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E1B2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Future Scope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143625" y="1696641"/>
            <a:ext cx="257175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Ready for expansion into multi-threading for concurrent bookings and JDBC for enterprise-grade database persistence.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28625" y="4111228"/>
            <a:ext cx="8286750" cy="603647"/>
          </a:xfrm>
          <a:prstGeom prst="rect">
            <a:avLst/>
          </a:prstGeom>
          <a:solidFill>
            <a:srgbClr val="F4F4F5"/>
          </a:solidFill>
          <a:ln/>
        </p:spPr>
      </p:sp>
      <p:sp>
        <p:nvSpPr>
          <p:cNvPr id="11" name="Text 8"/>
          <p:cNvSpPr/>
          <p:nvPr/>
        </p:nvSpPr>
        <p:spPr>
          <a:xfrm>
            <a:off x="642938" y="4325541"/>
            <a:ext cx="7858125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 robust, academic-grade solution for modern hotel management.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28625" y="4443413"/>
            <a:ext cx="8286750" cy="2714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428625" y="4443413"/>
            <a:ext cx="8286750" cy="7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4" name="Text 11"/>
          <p:cNvSpPr/>
          <p:nvPr/>
        </p:nvSpPr>
        <p:spPr>
          <a:xfrm>
            <a:off x="428625" y="4593431"/>
            <a:ext cx="52149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15/10/2026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8418909" y="4593431"/>
            <a:ext cx="296466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/ 12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417909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Screen Shots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428625" y="1132284"/>
            <a:ext cx="4036219" cy="1684139"/>
          </a:xfrm>
          <a:prstGeom prst="rect">
            <a:avLst/>
          </a:prstGeom>
          <a:solidFill>
            <a:srgbClr val="111111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71500" y="1275159"/>
            <a:ext cx="3750469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9E1B2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MAIN CONSOLE MENU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571500" y="1503759"/>
            <a:ext cx="3750469" cy="9600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FFFFFF">
                    <a:alpha val="8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1. Add Room</a:t>
            </a:r>
            <a:r>
              <a:rPr lang="en-US" sz="850" dirty="0">
                <a:solidFill>
                  <a:srgbClr val="FFFFFF">
                    <a:alpha val="8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850" dirty="0">
                <a:solidFill>
                  <a:srgbClr val="FFFFFF">
                    <a:alpha val="8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2. Book Room</a:t>
            </a:r>
            <a:r>
              <a:rPr lang="en-US" sz="850" dirty="0">
                <a:solidFill>
                  <a:srgbClr val="FFFFFF">
                    <a:alpha val="8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850" dirty="0">
                <a:solidFill>
                  <a:srgbClr val="FFFFFF">
                    <a:alpha val="8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3. Check Out</a:t>
            </a:r>
            <a:r>
              <a:rPr lang="en-US" sz="850" dirty="0">
                <a:solidFill>
                  <a:srgbClr val="FFFFFF">
                    <a:alpha val="8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850" dirty="0">
                <a:solidFill>
                  <a:srgbClr val="FFFFFF">
                    <a:alpha val="8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4. Search Room</a:t>
            </a:r>
            <a:r>
              <a:rPr lang="en-US" sz="850" dirty="0">
                <a:solidFill>
                  <a:srgbClr val="FFFFFF">
                    <a:alpha val="8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850" dirty="0">
                <a:solidFill>
                  <a:srgbClr val="FFFFFF">
                    <a:alpha val="8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5. Occupancy Report</a:t>
            </a:r>
            <a:r>
              <a:rPr lang="en-US" sz="850" dirty="0">
                <a:solidFill>
                  <a:srgbClr val="FFFFFF">
                    <a:alpha val="8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850" dirty="0">
                <a:solidFill>
                  <a:srgbClr val="FFFFFF">
                    <a:alpha val="8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Select: _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4679156" y="1132284"/>
            <a:ext cx="4036219" cy="1684139"/>
          </a:xfrm>
          <a:prstGeom prst="rect">
            <a:avLst/>
          </a:prstGeom>
          <a:solidFill>
            <a:srgbClr val="111111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822031" y="1275159"/>
            <a:ext cx="3750469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9E1B2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BOOKING CONFIRMATION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4822031" y="1503759"/>
            <a:ext cx="3750469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FFFFFF">
                    <a:alpha val="8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Enter Guest ID: 101</a:t>
            </a:r>
            <a:r>
              <a:rPr lang="en-US" sz="850" dirty="0">
                <a:solidFill>
                  <a:srgbClr val="FFFFFF">
                    <a:alpha val="8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850" dirty="0">
                <a:solidFill>
                  <a:srgbClr val="FFFFFF">
                    <a:alpha val="8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Enter Room ID: 204</a:t>
            </a:r>
            <a:r>
              <a:rPr lang="en-US" sz="850" dirty="0">
                <a:solidFill>
                  <a:srgbClr val="FFFFFF">
                    <a:alpha val="8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850" dirty="0">
                <a:solidFill>
                  <a:srgbClr val="FFFFFF">
                    <a:alpha val="8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Checking availability...</a:t>
            </a:r>
            <a:r>
              <a:rPr lang="en-US" sz="850" dirty="0">
                <a:solidFill>
                  <a:srgbClr val="FFFFFF">
                    <a:alpha val="8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850" dirty="0">
                <a:solidFill>
                  <a:srgbClr val="FFFFFF">
                    <a:alpha val="8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[SUCCESS] Room 204 booked for Guest 101.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428625" y="3030736"/>
            <a:ext cx="4036219" cy="1684139"/>
          </a:xfrm>
          <a:prstGeom prst="rect">
            <a:avLst/>
          </a:prstGeom>
          <a:solidFill>
            <a:srgbClr val="111111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1500" y="3173611"/>
            <a:ext cx="3750469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9E1B2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SEARCH RESULT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571500" y="3402211"/>
            <a:ext cx="3750469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FFFFFF">
                    <a:alpha val="8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Room 204 Found:</a:t>
            </a:r>
            <a:r>
              <a:rPr lang="en-US" sz="850" dirty="0">
                <a:solidFill>
                  <a:srgbClr val="FFFFFF">
                    <a:alpha val="8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850" dirty="0">
                <a:solidFill>
                  <a:srgbClr val="FFFFFF">
                    <a:alpha val="8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Type: Deluxe | Price: Rs 3500</a:t>
            </a:r>
            <a:r>
              <a:rPr lang="en-US" sz="850" dirty="0">
                <a:solidFill>
                  <a:srgbClr val="FFFFFF">
                    <a:alpha val="8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850" dirty="0">
                <a:solidFill>
                  <a:srgbClr val="FFFFFF">
                    <a:alpha val="8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Status: Occupied</a:t>
            </a:r>
            <a:r>
              <a:rPr lang="en-US" sz="850" dirty="0">
                <a:solidFill>
                  <a:srgbClr val="FFFFFF">
                    <a:alpha val="8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850" dirty="0">
                <a:solidFill>
                  <a:srgbClr val="FFFFFF">
                    <a:alpha val="8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Guest: M. Sai Karthik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679156" y="3030736"/>
            <a:ext cx="4036219" cy="1684139"/>
          </a:xfrm>
          <a:prstGeom prst="rect">
            <a:avLst/>
          </a:prstGeom>
          <a:solidFill>
            <a:srgbClr val="111111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22031" y="3173611"/>
            <a:ext cx="3750469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9E1B2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OCCUPANCY ANALYTICS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4822031" y="3402211"/>
            <a:ext cx="3750469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FFFFFF">
                    <a:alpha val="8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Total Rooms: 50</a:t>
            </a:r>
            <a:r>
              <a:rPr lang="en-US" sz="850" dirty="0">
                <a:solidFill>
                  <a:srgbClr val="FFFFFF">
                    <a:alpha val="8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850" dirty="0">
                <a:solidFill>
                  <a:srgbClr val="FFFFFF">
                    <a:alpha val="8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Occupied: 32 (64%)</a:t>
            </a:r>
            <a:r>
              <a:rPr lang="en-US" sz="850" dirty="0">
                <a:solidFill>
                  <a:srgbClr val="FFFFFF">
                    <a:alpha val="8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850" dirty="0">
                <a:solidFill>
                  <a:srgbClr val="FFFFFF">
                    <a:alpha val="8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Available: 18 (36%)</a:t>
            </a:r>
            <a:r>
              <a:rPr lang="en-US" sz="850" dirty="0">
                <a:solidFill>
                  <a:srgbClr val="FFFFFF">
                    <a:alpha val="8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850" dirty="0">
                <a:solidFill>
                  <a:srgbClr val="FFFFFF">
                    <a:alpha val="8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Daily Revenue: Rs 1,12,000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28625" y="4443413"/>
            <a:ext cx="8286750" cy="2714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428625" y="4443413"/>
            <a:ext cx="8286750" cy="7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8" name="Text 15"/>
          <p:cNvSpPr/>
          <p:nvPr/>
        </p:nvSpPr>
        <p:spPr>
          <a:xfrm>
            <a:off x="428625" y="4593431"/>
            <a:ext cx="52149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15/10/2026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8443913" y="4593431"/>
            <a:ext cx="27146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/ 12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417909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Source Code QR and Geo-tag Photo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428625" y="1132284"/>
            <a:ext cx="3571875" cy="857250"/>
          </a:xfrm>
          <a:prstGeom prst="rect">
            <a:avLst/>
          </a:prstGeom>
          <a:solidFill>
            <a:srgbClr val="F4F4F5"/>
          </a:solidFill>
          <a:ln w="9144">
            <a:solidFill>
              <a:srgbClr val="E5E7E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00075" y="1303734"/>
            <a:ext cx="322897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9E1B2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SOURCE CODE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600075" y="1496616"/>
            <a:ext cx="3228975" cy="307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https://8000-i4eecpldnuzibj7pj4kw3-3da552e9.sg2.manus.computer/hotel-occupancy-manager.zip</a:t>
            </a:r>
            <a:endParaRPr lang="en-US" sz="8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2118122"/>
            <a:ext cx="1071563" cy="107156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43063" y="2398905"/>
            <a:ext cx="2357438" cy="509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Scan to download the complete Java project ZIP, including source files, README, and sample data.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429125" y="1132284"/>
            <a:ext cx="4286250" cy="3582591"/>
          </a:xfrm>
          <a:prstGeom prst="rect">
            <a:avLst/>
          </a:prstGeom>
          <a:solidFill>
            <a:srgbClr val="FAFAFA"/>
          </a:solidFill>
          <a:ln w="18288">
            <a:solidFill>
              <a:srgbClr val="E5E7EB"/>
            </a:solidFill>
            <a:prstDash val="dash"/>
          </a:ln>
        </p:spPr>
      </p:sp>
      <p:sp>
        <p:nvSpPr>
          <p:cNvPr id="10" name="Text 6"/>
          <p:cNvSpPr/>
          <p:nvPr/>
        </p:nvSpPr>
        <p:spPr>
          <a:xfrm>
            <a:off x="5832872" y="2584252"/>
            <a:ext cx="1478756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555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FIELD PHOTO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5286375" y="2812852"/>
            <a:ext cx="2571750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Insert the required geo-tagged project photo here before submission. Keep the location metadata visible.</a:t>
            </a:r>
            <a:endParaRPr lang="en-US" sz="750" dirty="0"/>
          </a:p>
        </p:txBody>
      </p:sp>
      <p:sp>
        <p:nvSpPr>
          <p:cNvPr id="12" name="Shape 8"/>
          <p:cNvSpPr/>
          <p:nvPr/>
        </p:nvSpPr>
        <p:spPr>
          <a:xfrm>
            <a:off x="428625" y="4443413"/>
            <a:ext cx="8286750" cy="2714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3" name="Shape 9"/>
          <p:cNvSpPr/>
          <p:nvPr/>
        </p:nvSpPr>
        <p:spPr>
          <a:xfrm>
            <a:off x="428625" y="4443413"/>
            <a:ext cx="8286750" cy="7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4" name="Text 10"/>
          <p:cNvSpPr/>
          <p:nvPr/>
        </p:nvSpPr>
        <p:spPr>
          <a:xfrm>
            <a:off x="428625" y="4593431"/>
            <a:ext cx="52149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15/10/2026</a:t>
            </a:r>
            <a:endParaRPr lang="en-US" sz="750" dirty="0"/>
          </a:p>
        </p:txBody>
      </p:sp>
      <p:sp>
        <p:nvSpPr>
          <p:cNvPr id="15" name="Text 11"/>
          <p:cNvSpPr/>
          <p:nvPr/>
        </p:nvSpPr>
        <p:spPr>
          <a:xfrm>
            <a:off x="8422481" y="4593431"/>
            <a:ext cx="29289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/ 12</a:t>
            </a:r>
            <a:endParaRPr lang="en-US" sz="750" dirty="0"/>
          </a:p>
        </p:txBody>
      </p:sp>
      <p:sp>
        <p:nvSpPr>
          <p:cNvPr id="16" name="GitHub Card"/>
          <p:cNvSpPr/>
          <p:nvPr/>
        </p:nvSpPr>
        <p:spPr>
          <a:xfrm>
            <a:off x="428625" y="3500000"/>
            <a:ext cx="3571875" cy="750000"/>
          </a:xfrm>
          <a:prstGeom prst="rect">
            <a:avLst/>
          </a:prstGeom>
          <a:solidFill>
            <a:srgbClr val="F4F4F5"/>
          </a:solidFill>
          <a:ln w="9144">
            <a:solidFill>
              <a:srgbClr val="E5E7EB"/>
            </a:solidFill>
            <a:prstDash val="solid"/>
          </a:ln>
        </p:spPr>
      </p:sp>
      <p:sp>
        <p:nvSpPr>
          <p:cNvPr id="17" name="GitHub Label"/>
          <p:cNvSpPr txBox="1"/>
          <p:nvPr/>
        </p:nvSpPr>
        <p:spPr>
          <a:xfrm>
            <a:off x="600075" y="3650000"/>
            <a:ext cx="322897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9E1B2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GITHUB REPOSITORY</a:t>
            </a:r>
            <a:endParaRPr lang="en-US" sz="700" dirty="0"/>
          </a:p>
        </p:txBody>
      </p:sp>
      <p:sp>
        <p:nvSpPr>
          <p:cNvPr id="18" name="GitHub Link"/>
          <p:cNvSpPr txBox="1"/>
          <p:nvPr/>
        </p:nvSpPr>
        <p:spPr>
          <a:xfrm>
            <a:off x="600075" y="3860000"/>
            <a:ext cx="3228975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https://github.com/medesettivenkatasainiranjan-png/JAVA-PROJECTS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2026-10-15T11:58:21Z</dcterms:created>
  <dcterms:modified xsi:type="dcterms:W3CDTF">2026-10-15T11:58:21Z</dcterms:modified>
</cp:coreProperties>
</file>